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61500"/>
  <p:notesSz cx="6858000" cy="12161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767d128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b767d128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767d128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767d1282_6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b767d1282_6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fb767d1282_6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f6ddb4b9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9f6ddb4b9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409f6ddb4b9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767d1282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b767d1282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fb767d1282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09f855cda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409f855cda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409f855cdac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09f855cdac_2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409f855cdac_2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409f855cdac_2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09f98a5a2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409f98a5a2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09f6ddb4b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409f6ddb4b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409f6ddb4b9_1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409f6ddb4b9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409f6ddb4b9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409f6ddb4b9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4571" y="992767"/>
            <a:ext cx="11332500" cy="2736900"/>
          </a:xfrm>
          <a:prstGeom prst="rect">
            <a:avLst/>
          </a:prstGeom>
        </p:spPr>
        <p:txBody>
          <a:bodyPr anchorCtr="0" anchor="b" bIns="121700" lIns="121700" spcFirstLastPara="1" rIns="121700" wrap="square" tIns="12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4560" y="3778833"/>
            <a:ext cx="11332500" cy="10569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4560" y="2867800"/>
            <a:ext cx="11332500" cy="11223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4560" y="593367"/>
            <a:ext cx="11332500" cy="7635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4560" y="1536633"/>
            <a:ext cx="11332500" cy="45552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4560" y="593367"/>
            <a:ext cx="11332500" cy="7635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4560" y="1536633"/>
            <a:ext cx="5319900" cy="45552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27081" y="1536633"/>
            <a:ext cx="5319900" cy="45552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4560" y="593367"/>
            <a:ext cx="11332500" cy="7635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4560" y="740800"/>
            <a:ext cx="3734700" cy="1007700"/>
          </a:xfrm>
          <a:prstGeom prst="rect">
            <a:avLst/>
          </a:prstGeom>
        </p:spPr>
        <p:txBody>
          <a:bodyPr anchorCtr="0" anchor="b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4560" y="1852800"/>
            <a:ext cx="3734700" cy="42393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2031" y="600200"/>
            <a:ext cx="8469300" cy="54543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80750" y="-167"/>
            <a:ext cx="6080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700" lIns="121700" spcFirstLastPara="1" rIns="121700" wrap="square" tIns="12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3114" y="1644233"/>
            <a:ext cx="5380200" cy="1976400"/>
          </a:xfrm>
          <a:prstGeom prst="rect">
            <a:avLst/>
          </a:prstGeom>
        </p:spPr>
        <p:txBody>
          <a:bodyPr anchorCtr="0" anchor="b" bIns="121700" lIns="121700" spcFirstLastPara="1" rIns="121700" wrap="square" tIns="12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3114" y="3737433"/>
            <a:ext cx="5380200" cy="16467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69524" y="965433"/>
            <a:ext cx="5103300" cy="49269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4560" y="5640767"/>
            <a:ext cx="7978500" cy="806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4560" y="1474833"/>
            <a:ext cx="11332500" cy="2618100"/>
          </a:xfrm>
          <a:prstGeom prst="rect">
            <a:avLst/>
          </a:prstGeom>
        </p:spPr>
        <p:txBody>
          <a:bodyPr anchorCtr="0" anchor="b" bIns="121700" lIns="121700" spcFirstLastPara="1" rIns="121700" wrap="square" tIns="12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4560" y="4202967"/>
            <a:ext cx="11332500" cy="1734300"/>
          </a:xfrm>
          <a:prstGeom prst="rect">
            <a:avLst/>
          </a:prstGeom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4560" y="593367"/>
            <a:ext cx="113325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00" lIns="121700" spcFirstLastPara="1" rIns="121700" wrap="square" tIns="12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4560" y="1536633"/>
            <a:ext cx="113325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00" lIns="121700" spcFirstLastPara="1" rIns="121700" wrap="square" tIns="1217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68350" y="6217622"/>
            <a:ext cx="729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00" lIns="121700" spcFirstLastPara="1" rIns="121700" wrap="square" tIns="1217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33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OLIST E-COMMERCE DATA PIPELINE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Architecture &amp; Design Rationale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Why we built it this way — and why not another way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22960" y="6025365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2 Assignment  |  Belina | Hui Min | Nivedha | Rupa | Yeh Yuen	</a:t>
            </a:r>
            <a:endParaRPr sz="12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1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9966960" y="2377440"/>
            <a:ext cx="1463040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What This Replaces: </a:t>
            </a:r>
            <a:r>
              <a:rPr b="1" lang="en-US" sz="3400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4 Q</a:t>
            </a: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uestions, Answered Consistently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48628" y="2587758"/>
            <a:ext cx="548700" cy="548700"/>
          </a:xfrm>
          <a:prstGeom prst="ellipse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2706617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371600" y="2656338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 product categories drive revenue?</a:t>
            </a:r>
            <a:endParaRPr b="1" sz="1600">
              <a:solidFill>
                <a:srgbClr val="1F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Which regions drive revenue?</a:t>
            </a:r>
            <a:endParaRPr b="1" sz="1600">
              <a:solidFill>
                <a:srgbClr val="1F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1F24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371600" y="2933810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base trajectory metric executives a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sk about first — frames every other finding.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48653" y="3474714"/>
            <a:ext cx="548700" cy="548700"/>
          </a:xfrm>
          <a:prstGeom prst="ellipse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359358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1371588" y="3449593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 do holidays change demand?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371588" y="3778766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Turns an operational metric into a quantified revenue risk.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48678" y="4270279"/>
            <a:ext cx="548700" cy="548700"/>
          </a:xfrm>
          <a:prstGeom prst="ellipse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" y="436171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371600" y="4242859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Which customers </a:t>
            </a:r>
            <a:r>
              <a:rPr b="1" lang="en-US" sz="16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matter most</a:t>
            </a:r>
            <a:r>
              <a:rPr b="1" i="0" lang="en-US" sz="16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371538" y="4541894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Separates one-time buyers from customers worth investing 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48615" y="5262418"/>
            <a:ext cx="11064300" cy="594300"/>
          </a:xfrm>
          <a:prstGeom prst="roundRect">
            <a:avLst>
              <a:gd fmla="val 9231" name="adj"/>
            </a:avLst>
          </a:prstGeom>
          <a:solidFill>
            <a:srgbClr val="FDECEC"/>
          </a:solidFill>
          <a:ln cap="flat" cmpd="sng" w="12700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822985" y="5305030"/>
            <a:ext cx="10515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2E2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A2E2E"/>
                </a:solidFill>
                <a:latin typeface="Calibri"/>
                <a:ea typeface="Calibri"/>
                <a:cs typeface="Calibri"/>
                <a:sym typeface="Calibri"/>
              </a:rPr>
              <a:t>Today, each of these needs a fresh, one-off pull. This pipeline answers all four the same way, every time — no re-deriving the numbers.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One Pipeline, Answering the Same </a:t>
            </a:r>
            <a:r>
              <a:rPr b="1" lang="en-US" sz="3400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four</a:t>
            </a: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 Questions Every Time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945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777240" y="27889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r>
              <a:rPr b="1" i="0" lang="en-US" sz="4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→ 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77240" y="352044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raw tables unified into one trustworthy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389120" y="192024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1945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4617720" y="27889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$0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617720" y="352044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infrastructure cost, by design — not by luck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8229600" y="192024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21945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8458200" y="27889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8458200" y="352044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recurring business questions, answered on demand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48640" y="4709160"/>
            <a:ext cx="11064240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68680" y="489204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replaced ad hoc, one-off data pulls with a governed, automated pipeline that turns Olist's raw order data into the answers leadership asks for every month — </a:t>
            </a: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in two weeks, at zero infrastructure cost.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548640" y="457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48640" y="77724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What the Pipeline Already Shows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141732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Real findings from the analysis layer — not a hypothetical value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48640" y="2057400"/>
            <a:ext cx="5212200" cy="2834700"/>
          </a:xfrm>
          <a:prstGeom prst="roundRect">
            <a:avLst>
              <a:gd fmla="val 2581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822960" y="2286000"/>
            <a:ext cx="46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Fastest growing products?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822960" y="2880360"/>
            <a:ext cx="466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428,933 in sales</a:t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t/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22960" y="3657600"/>
            <a:ext cx="466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200">
                <a:solidFill>
                  <a:schemeClr val="dk1"/>
                </a:solidFill>
              </a:rPr>
              <a:t>Watches &amp; Gifts had </a:t>
            </a:r>
            <a:r>
              <a:rPr lang="en-US" sz="1200">
                <a:solidFill>
                  <a:schemeClr val="dk1"/>
                </a:solidFill>
              </a:rPr>
              <a:t>highest</a:t>
            </a:r>
            <a:r>
              <a:rPr lang="en-US" sz="1200">
                <a:solidFill>
                  <a:schemeClr val="dk1"/>
                </a:solidFill>
              </a:rPr>
              <a:t> positive revenue change from 2017 to 2018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126480" y="2057400"/>
            <a:ext cx="5212200" cy="2834700"/>
          </a:xfrm>
          <a:prstGeom prst="roundRect">
            <a:avLst>
              <a:gd fmla="val 2581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6400850" y="2285988"/>
            <a:ext cx="46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lang="en-US" sz="14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ighest changes in daily sales around holidays?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400850" y="2628935"/>
            <a:ext cx="466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+6,433 in sales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400850" y="3657600"/>
            <a:ext cx="466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</a:rPr>
              <a:t>CORPUS </a:t>
            </a:r>
            <a:r>
              <a:rPr lang="en-US" sz="1200">
                <a:solidFill>
                  <a:schemeClr val="dk1"/>
                </a:solidFill>
              </a:rPr>
              <a:t>CHRISTI</a:t>
            </a:r>
            <a:r>
              <a:rPr lang="en-US" sz="1200">
                <a:solidFill>
                  <a:schemeClr val="dk1"/>
                </a:solidFill>
              </a:rPr>
              <a:t> had the largest daily sale changes with the product category - watches_gifts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48640" y="5166360"/>
            <a:ext cx="11064300" cy="1051500"/>
          </a:xfrm>
          <a:prstGeom prst="roundRect">
            <a:avLst>
              <a:gd fmla="val 5217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22960" y="5166360"/>
            <a:ext cx="10515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kind of insight the pipeline surfaces every month automatically, not from a one-off analysis.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It also validates the optional holiday-API enrichment from Section 1 — the effect it was built to detect is real and measurable.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152144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548640" y="457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192375" y="1399550"/>
            <a:ext cx="11969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4231"/>
              <a:buFont typeface="Cambria"/>
              <a:buNone/>
            </a:pPr>
            <a:r>
              <a:rPr b="1" i="0" lang="en-US" sz="4231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Architecture at a Glance</a:t>
            </a:r>
            <a:endParaRPr b="0" i="0" sz="42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192375" y="2477059"/>
            <a:ext cx="1830300" cy="7968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 cap="flat" cmpd="sng" w="158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76" y="2668213"/>
            <a:ext cx="356102" cy="40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44801" y="2548742"/>
            <a:ext cx="12363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30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 CSVs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44801" y="2890087"/>
            <a:ext cx="12363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995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raw source files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002563" y="3160231"/>
            <a:ext cx="178200" cy="34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160831" y="2477542"/>
            <a:ext cx="1830300" cy="1706700"/>
          </a:xfrm>
          <a:prstGeom prst="roundRect">
            <a:avLst>
              <a:gd fmla="val 4000" name="adj"/>
            </a:avLst>
          </a:prstGeom>
          <a:solidFill>
            <a:srgbClr val="334091"/>
          </a:solidFill>
          <a:ln cap="flat" cmpd="sng" w="15800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523" y="2682349"/>
            <a:ext cx="494587" cy="5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2239965" y="3296768"/>
            <a:ext cx="167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5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Meltano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239965" y="3672247"/>
            <a:ext cx="1671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extract &amp; load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971019" y="3160231"/>
            <a:ext cx="178200" cy="34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129286" y="2477542"/>
            <a:ext cx="1830300" cy="17067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 cap="flat" cmpd="sng" w="158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6979" y="2682349"/>
            <a:ext cx="494587" cy="5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208420" y="3296768"/>
            <a:ext cx="167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5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208420" y="3672247"/>
            <a:ext cx="1671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raw layer, 1:1 mirror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939474" y="3160231"/>
            <a:ext cx="178200" cy="34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6097742" y="2477542"/>
            <a:ext cx="1830300" cy="1706700"/>
          </a:xfrm>
          <a:prstGeom prst="roundRect">
            <a:avLst>
              <a:gd fmla="val 4000" name="adj"/>
            </a:avLst>
          </a:prstGeom>
          <a:solidFill>
            <a:srgbClr val="334091"/>
          </a:solidFill>
          <a:ln cap="flat" cmpd="sng" w="15800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5434" y="2682349"/>
            <a:ext cx="494587" cy="5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176876" y="3296768"/>
            <a:ext cx="167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5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176876" y="3672247"/>
            <a:ext cx="1671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builds star schema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907930" y="3160231"/>
            <a:ext cx="178200" cy="34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066198" y="2477542"/>
            <a:ext cx="1830300" cy="17067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 cap="flat" cmpd="sng" w="158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3890" y="2682349"/>
            <a:ext cx="494587" cy="5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145332" y="3296768"/>
            <a:ext cx="167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5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145332" y="3672247"/>
            <a:ext cx="1671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dbt + Great Expectations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9876386" y="3160231"/>
            <a:ext cx="178200" cy="34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0034654" y="2477542"/>
            <a:ext cx="1830300" cy="1706700"/>
          </a:xfrm>
          <a:prstGeom prst="roundRect">
            <a:avLst>
              <a:gd fmla="val 4000" name="adj"/>
            </a:avLst>
          </a:prstGeom>
          <a:solidFill>
            <a:srgbClr val="334091"/>
          </a:solidFill>
          <a:ln cap="flat" cmpd="sng" w="15800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02346" y="2682349"/>
            <a:ext cx="494587" cy="5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0113788" y="3296768"/>
            <a:ext cx="167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5"/>
              <a:buFont typeface="Calibri"/>
              <a:buNone/>
            </a:pPr>
            <a:r>
              <a:rPr b="1" i="0" lang="en-US" sz="155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0113788" y="3672247"/>
            <a:ext cx="1671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SQLAlchemy + pandas + CSV + Matplotlib/St</a:t>
            </a:r>
            <a:r>
              <a:rPr lang="en-US" sz="112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reamlit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92365" y="5034387"/>
            <a:ext cx="11064300" cy="777300"/>
          </a:xfrm>
          <a:prstGeom prst="roundRect">
            <a:avLst>
              <a:gd fmla="val 7059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600"/>
              <a:t>Github Actions orchestrate the pipeline from data ingestion to data validation</a:t>
            </a:r>
            <a:endParaRPr b="1"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152144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92375" y="3390725"/>
            <a:ext cx="1830300" cy="7968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 cap="flat" cmpd="sng" w="118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49773" rotWithShape="0" dir="5400000" dist="28620">
              <a:srgbClr val="000000">
                <a:alpha val="34900"/>
              </a:srgbClr>
            </a:outerShdw>
          </a:effectLst>
        </p:spPr>
        <p:txBody>
          <a:bodyPr anchorCtr="0" anchor="ctr" bIns="56850" lIns="113775" spcFirstLastPara="1" rIns="113775" wrap="square" tIns="56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_cloud_iceblue.png" id="168" name="Google Shape;16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1076" y="3584154"/>
            <a:ext cx="356102" cy="40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6096" y="3458994"/>
            <a:ext cx="1236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Holiday API</a:t>
            </a:r>
            <a:endParaRPr sz="1742"/>
          </a:p>
        </p:txBody>
      </p:sp>
      <p:sp>
        <p:nvSpPr>
          <p:cNvPr id="170" name="Google Shape;170;p18"/>
          <p:cNvSpPr txBox="1"/>
          <p:nvPr/>
        </p:nvSpPr>
        <p:spPr>
          <a:xfrm>
            <a:off x="766096" y="3800338"/>
            <a:ext cx="12363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REST API, BrasilAPI</a:t>
            </a:r>
            <a:endParaRPr sz="1742"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4348325"/>
            <a:ext cx="11969098" cy="3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2375" y="5954404"/>
            <a:ext cx="12161499" cy="349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6701" cy="213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38396"/>
            <a:ext cx="11856703" cy="831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21988"/>
            <a:ext cx="11856703" cy="831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405580"/>
            <a:ext cx="11856703" cy="831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6372763"/>
            <a:ext cx="10406711" cy="3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5389171"/>
            <a:ext cx="11856703" cy="83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548640" y="45720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48640" y="777240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Same Constraint, Applied to What We Excluded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57200" y="1965960"/>
            <a:ext cx="3566100" cy="35205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2585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243584" y="2276856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Apache Spark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13232" y="2926080"/>
            <a:ext cx="305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Distributes computation across a cluster when data exceeds one machine's capacity.</a:t>
            </a:r>
            <a:endParaRPr/>
          </a:p>
        </p:txBody>
      </p:sp>
      <p:cxnSp>
        <p:nvCxnSpPr>
          <p:cNvPr id="195" name="Google Shape;195;p20"/>
          <p:cNvCxnSpPr/>
          <p:nvPr/>
        </p:nvCxnSpPr>
        <p:spPr>
          <a:xfrm>
            <a:off x="713232" y="3840479"/>
            <a:ext cx="3054000" cy="0"/>
          </a:xfrm>
          <a:prstGeom prst="straightConnector1">
            <a:avLst/>
          </a:prstGeom>
          <a:noFill/>
          <a:ln cap="flat" cmpd="sng" w="9525">
            <a:solidFill>
              <a:srgbClr val="3D4A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6" name="Google Shape;196;p20"/>
          <p:cNvSpPr txBox="1"/>
          <p:nvPr/>
        </p:nvSpPr>
        <p:spPr>
          <a:xfrm>
            <a:off x="713232" y="3977639"/>
            <a:ext cx="3054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50-100MB total, well below the threshold for distributed computation. BigQuery already runs our transforms as distributed SQL — a second engine here solves nothing new.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297680" y="1965960"/>
            <a:ext cx="3566100" cy="35205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3712" y="22585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084064" y="2276856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Kafka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553712" y="2926080"/>
            <a:ext cx="3054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Consumes a live, continuous event stream.</a:t>
            </a:r>
            <a:endParaRPr/>
          </a:p>
        </p:txBody>
      </p:sp>
      <p:cxnSp>
        <p:nvCxnSpPr>
          <p:cNvPr id="201" name="Google Shape;201;p20"/>
          <p:cNvCxnSpPr/>
          <p:nvPr/>
        </p:nvCxnSpPr>
        <p:spPr>
          <a:xfrm>
            <a:off x="4553712" y="3840479"/>
            <a:ext cx="3054000" cy="0"/>
          </a:xfrm>
          <a:prstGeom prst="straightConnector1">
            <a:avLst/>
          </a:prstGeom>
          <a:noFill/>
          <a:ln cap="flat" cmpd="sng" w="9525">
            <a:solidFill>
              <a:srgbClr val="3D4A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2" name="Google Shape;202;p20"/>
          <p:cNvSpPr txBox="1"/>
          <p:nvPr/>
        </p:nvSpPr>
        <p:spPr>
          <a:xfrm>
            <a:off x="4553712" y="3977639"/>
            <a:ext cx="305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static historical export, not a live feed. Simulating a stream that doesn't exist would be artificial, not useful engineering.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8138160" y="1965960"/>
            <a:ext cx="3566100" cy="35205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192" y="22585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924544" y="2276856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DuckDB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394192" y="2926080"/>
            <a:ext cx="305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Runs fast, in-memory SQL analytics outside the warehouse.</a:t>
            </a:r>
            <a:endParaRPr/>
          </a:p>
        </p:txBody>
      </p:sp>
      <p:cxnSp>
        <p:nvCxnSpPr>
          <p:cNvPr id="207" name="Google Shape;207;p20"/>
          <p:cNvCxnSpPr/>
          <p:nvPr/>
        </p:nvCxnSpPr>
        <p:spPr>
          <a:xfrm>
            <a:off x="8394192" y="3840479"/>
            <a:ext cx="3054000" cy="0"/>
          </a:xfrm>
          <a:prstGeom prst="straightConnector1">
            <a:avLst/>
          </a:prstGeom>
          <a:noFill/>
          <a:ln cap="flat" cmpd="sng" w="9525">
            <a:solidFill>
              <a:srgbClr val="3D4A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8" name="Google Shape;208;p20"/>
          <p:cNvSpPr txBox="1"/>
          <p:nvPr/>
        </p:nvSpPr>
        <p:spPr>
          <a:xfrm>
            <a:off x="8394192" y="3977639"/>
            <a:ext cx="3054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 alone handles this data volume without strain. DuckDB solves a memory and speed problem this dataset doesn't have — a second query engine for capability we don't need.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48640" y="5715000"/>
            <a:ext cx="1106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Cost &amp; complexity, again: same reasoning applied three times, not stretched to fit.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1521440" y="6446520"/>
            <a:ext cx="45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/>
        </p:nvSpPr>
        <p:spPr>
          <a:xfrm>
            <a:off x="548640" y="45720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01365" y="777240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Transformation &amp; Modeling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28750" y="1909784"/>
            <a:ext cx="2011800" cy="36033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63650" y="2088225"/>
            <a:ext cx="1937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RAW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25650" y="2763650"/>
            <a:ext cx="1613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Ingest raw JSON/CSV data from APIs and relational sources directly into the storage layer 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2590968" y="1891625"/>
            <a:ext cx="2011800" cy="36396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711150" y="2088225"/>
            <a:ext cx="179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STAGING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9596945" y="1891625"/>
            <a:ext cx="2011800" cy="36396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9655750" y="2036150"/>
            <a:ext cx="188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VALIDATED BUSINESS DATA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1521440" y="6446520"/>
            <a:ext cx="45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972438" y="1891615"/>
            <a:ext cx="2011800" cy="36396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087527" y="2036148"/>
            <a:ext cx="179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INTERMEDIATE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631138" y="2763650"/>
            <a:ext cx="14358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Define clear fact-table grains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 reusable dimensions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Implement star schema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Add surrogate keys for analytical relationships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7363000" y="1943750"/>
            <a:ext cx="1888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ANALYTICAL MODEL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59125" y="5702300"/>
            <a:ext cx="115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263080"/>
                </a:solidFill>
                <a:latin typeface="Calibri"/>
                <a:ea typeface="Calibri"/>
                <a:cs typeface="Calibri"/>
                <a:sym typeface="Calibri"/>
              </a:rPr>
              <a:t>Raw data is transformed into a governed analytical model with consistent business definitions, enabling trusted reporting and scalable analytics. </a:t>
            </a:r>
            <a:endParaRPr sz="2000">
              <a:solidFill>
                <a:srgbClr val="263080"/>
              </a:solidFill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799647" y="2763650"/>
            <a:ext cx="1613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Standardize data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Consistent data types and naming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209775" y="2737300"/>
            <a:ext cx="15015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Enrich data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Normalize source data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Combine related datasets 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Add business attributes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Apply business logic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Derive analytical fields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84689" y="1891625"/>
            <a:ext cx="2011800" cy="3639600"/>
          </a:xfrm>
          <a:prstGeom prst="roundRect">
            <a:avLst>
              <a:gd fmla="val 6000" name="adj"/>
            </a:avLst>
          </a:prstGeom>
          <a:solidFill>
            <a:srgbClr val="263080"/>
          </a:solidFill>
          <a:ln cap="flat" cmpd="sng" w="9525">
            <a:solidFill>
              <a:srgbClr val="2630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9793125" y="2809500"/>
            <a:ext cx="16137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Uniqueness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Not-null checks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Referential integrity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Accepted-value checks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0025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Business-rule validation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424650" y="2036149"/>
            <a:ext cx="179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ANALYTICAL MODEL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385062" y="2809500"/>
            <a:ext cx="17343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73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 fact tables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34290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 reusable dimensions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34290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Implement star schema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34290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●"/>
            </a:pPr>
            <a:r>
              <a:rPr i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Add surrogate keys for analytical relationships</a:t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/>
        </p:nvSpPr>
        <p:spPr>
          <a:xfrm>
            <a:off x="548590" y="15720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775808" y="2711898"/>
            <a:ext cx="1828838" cy="457223"/>
            <a:chOff x="3290965" y="2417580"/>
            <a:chExt cx="1975200" cy="685800"/>
          </a:xfrm>
        </p:grpSpPr>
        <p:sp>
          <p:nvSpPr>
            <p:cNvPr id="244" name="Google Shape;244;p22"/>
            <p:cNvSpPr/>
            <p:nvPr/>
          </p:nvSpPr>
          <p:spPr>
            <a:xfrm>
              <a:off x="3295613" y="2417580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1155CC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2"/>
            <p:cNvSpPr txBox="1"/>
            <p:nvPr/>
          </p:nvSpPr>
          <p:spPr>
            <a:xfrm>
              <a:off x="3290965" y="2556755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fact_orders</a:t>
              </a:r>
              <a:endParaRPr sz="1600"/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7584970" y="2669661"/>
            <a:ext cx="1828838" cy="457223"/>
            <a:chOff x="5888640" y="2417580"/>
            <a:chExt cx="1975200" cy="685800"/>
          </a:xfrm>
        </p:grpSpPr>
        <p:sp>
          <p:nvSpPr>
            <p:cNvPr id="247" name="Google Shape;247;p22"/>
            <p:cNvSpPr/>
            <p:nvPr/>
          </p:nvSpPr>
          <p:spPr>
            <a:xfrm>
              <a:off x="5893288" y="2417580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1155CC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2"/>
            <p:cNvSpPr txBox="1"/>
            <p:nvPr/>
          </p:nvSpPr>
          <p:spPr>
            <a:xfrm>
              <a:off x="5888640" y="2637320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fact_reviews</a:t>
              </a:r>
              <a:endParaRPr sz="1600"/>
            </a:p>
          </p:txBody>
        </p:sp>
      </p:grpSp>
      <p:grpSp>
        <p:nvGrpSpPr>
          <p:cNvPr id="249" name="Google Shape;249;p22"/>
          <p:cNvGrpSpPr/>
          <p:nvPr/>
        </p:nvGrpSpPr>
        <p:grpSpPr>
          <a:xfrm>
            <a:off x="7584973" y="1614607"/>
            <a:ext cx="1828838" cy="457223"/>
            <a:chOff x="5888640" y="3795555"/>
            <a:chExt cx="1975200" cy="685800"/>
          </a:xfrm>
        </p:grpSpPr>
        <p:sp>
          <p:nvSpPr>
            <p:cNvPr id="250" name="Google Shape;250;p22"/>
            <p:cNvSpPr/>
            <p:nvPr/>
          </p:nvSpPr>
          <p:spPr>
            <a:xfrm>
              <a:off x="5893288" y="3795555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1155CC"/>
            </a:solidFill>
            <a:ln cap="flat" cmpd="sng" w="95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5888640" y="4015295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fact_</a:t>
              </a: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payments</a:t>
              </a:r>
              <a:endParaRPr sz="1600"/>
            </a:p>
          </p:txBody>
        </p:sp>
      </p:grpSp>
      <p:sp>
        <p:nvSpPr>
          <p:cNvPr id="252" name="Google Shape;252;p22"/>
          <p:cNvSpPr txBox="1"/>
          <p:nvPr/>
        </p:nvSpPr>
        <p:spPr>
          <a:xfrm>
            <a:off x="457140" y="493578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Data Warehouse Star Schema 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1521440" y="6537960"/>
            <a:ext cx="45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grpSp>
        <p:nvGrpSpPr>
          <p:cNvPr id="254" name="Google Shape;254;p22"/>
          <p:cNvGrpSpPr/>
          <p:nvPr/>
        </p:nvGrpSpPr>
        <p:grpSpPr>
          <a:xfrm>
            <a:off x="4772366" y="4437591"/>
            <a:ext cx="1828838" cy="521696"/>
            <a:chOff x="3401273" y="3780837"/>
            <a:chExt cx="1975200" cy="742733"/>
          </a:xfrm>
        </p:grpSpPr>
        <p:sp>
          <p:nvSpPr>
            <p:cNvPr id="255" name="Google Shape;255;p22"/>
            <p:cNvSpPr/>
            <p:nvPr/>
          </p:nvSpPr>
          <p:spPr>
            <a:xfrm>
              <a:off x="3405914" y="3780837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1155CC"/>
            </a:solidFill>
            <a:ln cap="flat" cmpd="sng" w="100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139" rotWithShape="0" dir="5400000" dist="24230">
                <a:srgbClr val="000000">
                  <a:alpha val="34900"/>
                </a:srgbClr>
              </a:outerShdw>
            </a:effectLst>
          </p:spPr>
          <p:txBody>
            <a:bodyPr anchorCtr="0" anchor="ctr" bIns="48150" lIns="96325" spcFirstLastPara="1" rIns="96325" wrap="square" tIns="4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75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3401273" y="3872570"/>
              <a:ext cx="1975200" cy="65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fact_order</a:t>
              </a:r>
              <a:r>
                <a:rPr b="1" lang="en-US" sz="1686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_items</a:t>
              </a:r>
              <a:endParaRPr sz="1686"/>
            </a:p>
          </p:txBody>
        </p:sp>
      </p:grpSp>
      <p:grpSp>
        <p:nvGrpSpPr>
          <p:cNvPr id="257" name="Google Shape;257;p22"/>
          <p:cNvGrpSpPr/>
          <p:nvPr/>
        </p:nvGrpSpPr>
        <p:grpSpPr>
          <a:xfrm>
            <a:off x="4779422" y="1625681"/>
            <a:ext cx="1839297" cy="457223"/>
            <a:chOff x="3295613" y="1515343"/>
            <a:chExt cx="1986496" cy="685800"/>
          </a:xfrm>
        </p:grpSpPr>
        <p:sp>
          <p:nvSpPr>
            <p:cNvPr id="258" name="Google Shape;258;p22"/>
            <p:cNvSpPr/>
            <p:nvPr/>
          </p:nvSpPr>
          <p:spPr>
            <a:xfrm>
              <a:off x="3295613" y="1515343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727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0516" rotWithShape="0" dir="5400000" dist="17547">
                <a:srgbClr val="000000">
                  <a:alpha val="34900"/>
                </a:srgbClr>
              </a:outerShdw>
            </a:effectLst>
          </p:spPr>
          <p:txBody>
            <a:bodyPr anchorCtr="0" anchor="ctr" bIns="34875" lIns="69750" spcFirstLastPara="1" rIns="69750" wrap="square" tIns="34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68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3306909" y="1702084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dim_date</a:t>
              </a:r>
              <a:endParaRPr sz="1600"/>
            </a:p>
          </p:txBody>
        </p:sp>
      </p:grpSp>
      <p:grpSp>
        <p:nvGrpSpPr>
          <p:cNvPr id="260" name="Google Shape;260;p22"/>
          <p:cNvGrpSpPr/>
          <p:nvPr/>
        </p:nvGrpSpPr>
        <p:grpSpPr>
          <a:xfrm>
            <a:off x="1933509" y="2669648"/>
            <a:ext cx="1828814" cy="457223"/>
            <a:chOff x="693290" y="2417568"/>
            <a:chExt cx="1467748" cy="685800"/>
          </a:xfrm>
        </p:grpSpPr>
        <p:sp>
          <p:nvSpPr>
            <p:cNvPr id="261" name="Google Shape;261;p22"/>
            <p:cNvSpPr/>
            <p:nvPr/>
          </p:nvSpPr>
          <p:spPr>
            <a:xfrm>
              <a:off x="697938" y="2417568"/>
              <a:ext cx="14631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</a:endParaRPr>
            </a:p>
          </p:txBody>
        </p:sp>
        <p:sp>
          <p:nvSpPr>
            <p:cNvPr id="262" name="Google Shape;262;p22"/>
            <p:cNvSpPr txBox="1"/>
            <p:nvPr/>
          </p:nvSpPr>
          <p:spPr>
            <a:xfrm>
              <a:off x="693290" y="2637308"/>
              <a:ext cx="14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dim_customer</a:t>
              </a:r>
              <a:endParaRPr b="1" sz="1600"/>
            </a:p>
          </p:txBody>
        </p:sp>
      </p:grpSp>
      <p:grpSp>
        <p:nvGrpSpPr>
          <p:cNvPr id="263" name="Google Shape;263;p22"/>
          <p:cNvGrpSpPr/>
          <p:nvPr/>
        </p:nvGrpSpPr>
        <p:grpSpPr>
          <a:xfrm>
            <a:off x="1933494" y="3807787"/>
            <a:ext cx="1828838" cy="457223"/>
            <a:chOff x="693290" y="3575793"/>
            <a:chExt cx="1975200" cy="685800"/>
          </a:xfrm>
        </p:grpSpPr>
        <p:sp>
          <p:nvSpPr>
            <p:cNvPr id="264" name="Google Shape;264;p22"/>
            <p:cNvSpPr/>
            <p:nvPr/>
          </p:nvSpPr>
          <p:spPr>
            <a:xfrm>
              <a:off x="697938" y="3575793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693290" y="3795533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dim_geolocation</a:t>
              </a:r>
              <a:endParaRPr sz="1600"/>
            </a:p>
          </p:txBody>
        </p:sp>
      </p:grpSp>
      <p:grpSp>
        <p:nvGrpSpPr>
          <p:cNvPr id="266" name="Google Shape;266;p22"/>
          <p:cNvGrpSpPr/>
          <p:nvPr/>
        </p:nvGrpSpPr>
        <p:grpSpPr>
          <a:xfrm>
            <a:off x="4767146" y="5715508"/>
            <a:ext cx="1828838" cy="457223"/>
            <a:chOff x="3290965" y="4976418"/>
            <a:chExt cx="1975200" cy="685800"/>
          </a:xfrm>
        </p:grpSpPr>
        <p:sp>
          <p:nvSpPr>
            <p:cNvPr id="267" name="Google Shape;267;p22"/>
            <p:cNvSpPr/>
            <p:nvPr/>
          </p:nvSpPr>
          <p:spPr>
            <a:xfrm>
              <a:off x="3295613" y="4976418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3290965" y="5196158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dim_product</a:t>
              </a:r>
              <a:endParaRPr sz="1600"/>
            </a:p>
          </p:txBody>
        </p:sp>
      </p:grpSp>
      <p:grpSp>
        <p:nvGrpSpPr>
          <p:cNvPr id="269" name="Google Shape;269;p22"/>
          <p:cNvGrpSpPr/>
          <p:nvPr/>
        </p:nvGrpSpPr>
        <p:grpSpPr>
          <a:xfrm>
            <a:off x="7604976" y="4485983"/>
            <a:ext cx="1828838" cy="457223"/>
            <a:chOff x="9310590" y="2340393"/>
            <a:chExt cx="1975200" cy="685800"/>
          </a:xfrm>
        </p:grpSpPr>
        <p:sp>
          <p:nvSpPr>
            <p:cNvPr id="270" name="Google Shape;270;p22"/>
            <p:cNvSpPr/>
            <p:nvPr/>
          </p:nvSpPr>
          <p:spPr>
            <a:xfrm>
              <a:off x="9315238" y="2340393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9310590" y="2560133"/>
              <a:ext cx="1975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dim_seller</a:t>
              </a:r>
              <a:endParaRPr sz="1600"/>
            </a:p>
          </p:txBody>
        </p:sp>
      </p:grpSp>
      <p:grpSp>
        <p:nvGrpSpPr>
          <p:cNvPr id="272" name="Google Shape;272;p22"/>
          <p:cNvGrpSpPr/>
          <p:nvPr/>
        </p:nvGrpSpPr>
        <p:grpSpPr>
          <a:xfrm>
            <a:off x="7566747" y="5715509"/>
            <a:ext cx="1839232" cy="457223"/>
            <a:chOff x="9310569" y="3498618"/>
            <a:chExt cx="2483100" cy="685800"/>
          </a:xfrm>
        </p:grpSpPr>
        <p:sp>
          <p:nvSpPr>
            <p:cNvPr id="273" name="Google Shape;273;p22"/>
            <p:cNvSpPr/>
            <p:nvPr/>
          </p:nvSpPr>
          <p:spPr>
            <a:xfrm>
              <a:off x="9315238" y="3498618"/>
              <a:ext cx="2469000" cy="685800"/>
            </a:xfrm>
            <a:prstGeom prst="roundRect">
              <a:avLst>
                <a:gd fmla="val 8000" name="adj"/>
              </a:avLst>
            </a:prstGeom>
            <a:solidFill>
              <a:srgbClr val="38761D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9310569" y="3718340"/>
              <a:ext cx="24831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dim_geolocation</a:t>
              </a:r>
              <a:endParaRPr sz="1600"/>
            </a:p>
          </p:txBody>
        </p:sp>
      </p:grpSp>
      <p:grpSp>
        <p:nvGrpSpPr>
          <p:cNvPr id="275" name="Google Shape;275;p22"/>
          <p:cNvGrpSpPr/>
          <p:nvPr/>
        </p:nvGrpSpPr>
        <p:grpSpPr>
          <a:xfrm>
            <a:off x="1967533" y="5715530"/>
            <a:ext cx="1828838" cy="457180"/>
            <a:chOff x="3290965" y="6157293"/>
            <a:chExt cx="1975200" cy="712340"/>
          </a:xfrm>
        </p:grpSpPr>
        <p:sp>
          <p:nvSpPr>
            <p:cNvPr id="276" name="Google Shape;276;p22"/>
            <p:cNvSpPr/>
            <p:nvPr/>
          </p:nvSpPr>
          <p:spPr>
            <a:xfrm>
              <a:off x="3295613" y="6157293"/>
              <a:ext cx="1965900" cy="685800"/>
            </a:xfrm>
            <a:prstGeom prst="roundRect">
              <a:avLst>
                <a:gd fmla="val 8000" name="adj"/>
              </a:avLst>
            </a:prstGeom>
            <a:solidFill>
              <a:srgbClr val="A64D79"/>
            </a:solidFill>
            <a:ln cap="flat" cmpd="sng" w="9525">
              <a:solidFill>
                <a:srgbClr val="33409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3290965" y="6377033"/>
              <a:ext cx="1975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fct_customer_rfm</a:t>
              </a:r>
              <a:endParaRPr sz="1600"/>
            </a:p>
          </p:txBody>
        </p:sp>
      </p:grpSp>
      <p:cxnSp>
        <p:nvCxnSpPr>
          <p:cNvPr id="278" name="Google Shape;278;p22"/>
          <p:cNvCxnSpPr>
            <a:stCxn id="255" idx="2"/>
            <a:endCxn id="267" idx="0"/>
          </p:cNvCxnSpPr>
          <p:nvPr/>
        </p:nvCxnSpPr>
        <p:spPr>
          <a:xfrm flipH="1">
            <a:off x="5681676" y="4919297"/>
            <a:ext cx="5100" cy="79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2"/>
          <p:cNvCxnSpPr>
            <a:stCxn id="270" idx="2"/>
          </p:cNvCxnSpPr>
          <p:nvPr/>
        </p:nvCxnSpPr>
        <p:spPr>
          <a:xfrm flipH="1">
            <a:off x="8518193" y="4943206"/>
            <a:ext cx="1200" cy="77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2"/>
          <p:cNvCxnSpPr>
            <a:stCxn id="262" idx="1"/>
            <a:endCxn id="277" idx="1"/>
          </p:cNvCxnSpPr>
          <p:nvPr/>
        </p:nvCxnSpPr>
        <p:spPr>
          <a:xfrm>
            <a:off x="1933509" y="2898253"/>
            <a:ext cx="33900" cy="3116400"/>
          </a:xfrm>
          <a:prstGeom prst="bentConnector3">
            <a:avLst>
              <a:gd fmla="val -70243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2"/>
          <p:cNvCxnSpPr>
            <a:stCxn id="245" idx="3"/>
            <a:endCxn id="248" idx="1"/>
          </p:cNvCxnSpPr>
          <p:nvPr/>
        </p:nvCxnSpPr>
        <p:spPr>
          <a:xfrm>
            <a:off x="6604646" y="2886790"/>
            <a:ext cx="9804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2"/>
          <p:cNvCxnSpPr>
            <a:stCxn id="244" idx="2"/>
            <a:endCxn id="256" idx="0"/>
          </p:cNvCxnSpPr>
          <p:nvPr/>
        </p:nvCxnSpPr>
        <p:spPr>
          <a:xfrm flipH="1">
            <a:off x="5686925" y="3169121"/>
            <a:ext cx="3300" cy="13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2"/>
          <p:cNvCxnSpPr>
            <a:stCxn id="258" idx="2"/>
            <a:endCxn id="244" idx="0"/>
          </p:cNvCxnSpPr>
          <p:nvPr/>
        </p:nvCxnSpPr>
        <p:spPr>
          <a:xfrm>
            <a:off x="5689536" y="2082904"/>
            <a:ext cx="600" cy="62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2"/>
          <p:cNvCxnSpPr>
            <a:stCxn id="245" idx="3"/>
            <a:endCxn id="251" idx="1"/>
          </p:cNvCxnSpPr>
          <p:nvPr/>
        </p:nvCxnSpPr>
        <p:spPr>
          <a:xfrm flipH="1" rot="10800000">
            <a:off x="6604646" y="1843090"/>
            <a:ext cx="980400" cy="1043700"/>
          </a:xfrm>
          <a:prstGeom prst="bentConnector3">
            <a:avLst>
              <a:gd fmla="val 4999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2"/>
          <p:cNvCxnSpPr>
            <a:stCxn id="256" idx="3"/>
            <a:endCxn id="271" idx="1"/>
          </p:cNvCxnSpPr>
          <p:nvPr/>
        </p:nvCxnSpPr>
        <p:spPr>
          <a:xfrm flipH="1" rot="10800000">
            <a:off x="6601203" y="4714456"/>
            <a:ext cx="1003800" cy="1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2"/>
          <p:cNvCxnSpPr>
            <a:stCxn id="259" idx="1"/>
            <a:endCxn id="256" idx="1"/>
          </p:cNvCxnSpPr>
          <p:nvPr/>
        </p:nvCxnSpPr>
        <p:spPr>
          <a:xfrm flipH="1">
            <a:off x="4772481" y="1832286"/>
            <a:ext cx="17400" cy="2898300"/>
          </a:xfrm>
          <a:prstGeom prst="bentConnector3">
            <a:avLst>
              <a:gd fmla="val 33405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2"/>
          <p:cNvCxnSpPr>
            <a:stCxn id="245" idx="1"/>
            <a:endCxn id="262" idx="3"/>
          </p:cNvCxnSpPr>
          <p:nvPr/>
        </p:nvCxnSpPr>
        <p:spPr>
          <a:xfrm flipH="1">
            <a:off x="3756408" y="2886790"/>
            <a:ext cx="10194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2"/>
          <p:cNvCxnSpPr>
            <a:stCxn id="261" idx="2"/>
            <a:endCxn id="264" idx="0"/>
          </p:cNvCxnSpPr>
          <p:nvPr/>
        </p:nvCxnSpPr>
        <p:spPr>
          <a:xfrm flipH="1">
            <a:off x="2847811" y="3126871"/>
            <a:ext cx="3000" cy="68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2"/>
          <p:cNvCxnSpPr>
            <a:stCxn id="261" idx="0"/>
            <a:endCxn id="250" idx="0"/>
          </p:cNvCxnSpPr>
          <p:nvPr/>
        </p:nvCxnSpPr>
        <p:spPr>
          <a:xfrm rot="-5400000">
            <a:off x="5147611" y="-682252"/>
            <a:ext cx="1055100" cy="5648700"/>
          </a:xfrm>
          <a:prstGeom prst="bentConnector3">
            <a:avLst>
              <a:gd fmla="val 12256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2"/>
          <p:cNvCxnSpPr>
            <a:stCxn id="259" idx="3"/>
            <a:endCxn id="251" idx="1"/>
          </p:cNvCxnSpPr>
          <p:nvPr/>
        </p:nvCxnSpPr>
        <p:spPr>
          <a:xfrm>
            <a:off x="6618719" y="1832286"/>
            <a:ext cx="966300" cy="1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2"/>
          <p:cNvCxnSpPr>
            <a:stCxn id="247" idx="2"/>
            <a:endCxn id="270" idx="0"/>
          </p:cNvCxnSpPr>
          <p:nvPr/>
        </p:nvCxnSpPr>
        <p:spPr>
          <a:xfrm>
            <a:off x="8499387" y="3126883"/>
            <a:ext cx="20100" cy="135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Two Tools, Two Different Jobs — Not One Job Twice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dbt and Great Expectations are both used because they test different things, not the same 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548640" y="1965960"/>
            <a:ext cx="521208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0387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1444752" y="2038738"/>
            <a:ext cx="406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dbt: deterministic correctness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822950" y="2642300"/>
            <a:ext cx="48858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Is the data structurally sound?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</a:t>
            </a: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present and unique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</a:t>
            </a: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reference </a:t>
            </a: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resolves, every value valid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Row counts</a:t>
            </a: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stay correct through every join, staging → marts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i.</a:t>
            </a: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e. every order item belongs to a real order in fact_orders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6126475" y="1965950"/>
            <a:ext cx="5212200" cy="16359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7025" y="20279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7008817" y="2027907"/>
            <a:ext cx="406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Great Expectations: business </a:t>
            </a:r>
            <a:r>
              <a:rPr b="1" lang="en-US" sz="14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realism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6400763" y="2678025"/>
            <a:ext cx="46635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Do the values make sense? 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Values fall in a believable </a:t>
            </a: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1"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Events happen in the right </a:t>
            </a: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1"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Data stays </a:t>
            </a:r>
            <a:r>
              <a:rPr b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complete </a:t>
            </a: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and consistent over time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i.e. review scores between 1–5, delivery date after purchase date</a:t>
            </a:r>
            <a:endParaRPr sz="115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Already caught, from profiling the real data before any model was built: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548640" y="416052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77240" y="427939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261,831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777240" y="4864608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exact duplicate geolocation rows, now aggregated before joining (i.e. one row per ZIP before the mart join)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389120" y="416052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4617720" y="427939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4617720" y="4864608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orders where payment total didn't match price plus freight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8229600" y="416052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458200" y="427939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8458200" y="4864608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repeated review_id values — the real grain needed a second key (i.e. review_id, order_id)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Critical failures block the pipeline; known source quirks are logged as observations, not silent surprises at report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/>
        </p:nvSpPr>
        <p:spPr>
          <a:xfrm>
            <a:off x="548640" y="45720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OVERVIEW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548640" y="777240"/>
            <a:ext cx="1106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F2430"/>
                </a:solidFill>
                <a:latin typeface="Cambria"/>
                <a:ea typeface="Cambria"/>
                <a:cs typeface="Cambria"/>
                <a:sym typeface="Cambria"/>
              </a:rPr>
              <a:t>Blocking vs. Watching: How Failures Actually Get Handled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48640" y="1417320"/>
            <a:ext cx="1106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Not every data issue should stop the pipeline — critical errors block, known quirks get logged.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548650" y="1965960"/>
            <a:ext cx="2050800" cy="1051500"/>
          </a:xfrm>
          <a:prstGeom prst="roundRect">
            <a:avLst>
              <a:gd fmla="val 6000" name="adj"/>
            </a:avLst>
          </a:prstGeom>
          <a:solidFill>
            <a:srgbClr val="334091"/>
          </a:solidFill>
          <a:ln cap="flat" cmpd="sng" w="9525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637825" y="2167126"/>
            <a:ext cx="18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Meltano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37825" y="2532883"/>
            <a:ext cx="187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loads raw tables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2604127" y="2395724"/>
            <a:ext cx="1248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9525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2733431" y="1965960"/>
            <a:ext cx="2050800" cy="1051500"/>
          </a:xfrm>
          <a:prstGeom prst="roundRect">
            <a:avLst>
              <a:gd fmla="val 6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2822606" y="2167126"/>
            <a:ext cx="18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2822606" y="2532883"/>
            <a:ext cx="187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staging + structural tests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7102988" y="1965950"/>
            <a:ext cx="2050800" cy="1051500"/>
          </a:xfrm>
          <a:prstGeom prst="roundRect">
            <a:avLst>
              <a:gd fmla="val 6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4788908" y="2395724"/>
            <a:ext cx="1248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9525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4918211" y="1965960"/>
            <a:ext cx="2050800" cy="1051500"/>
          </a:xfrm>
          <a:prstGeom prst="roundRect">
            <a:avLst>
              <a:gd fmla="val 6000" name="adj"/>
            </a:avLst>
          </a:prstGeom>
          <a:solidFill>
            <a:srgbClr val="334091"/>
          </a:solidFill>
          <a:ln cap="flat" cmpd="sng" w="9525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7192064" y="2167126"/>
            <a:ext cx="18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GX checkpoint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7192186" y="2546851"/>
            <a:ext cx="187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critical + observation</a:t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6973689" y="2395724"/>
            <a:ext cx="1248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9525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5007293" y="2117239"/>
            <a:ext cx="18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 marts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4942648" y="2546845"/>
            <a:ext cx="187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grain + reconciliation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9158471" y="2395724"/>
            <a:ext cx="1248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9525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9287773" y="1965960"/>
            <a:ext cx="2050800" cy="1051500"/>
          </a:xfrm>
          <a:prstGeom prst="roundRect">
            <a:avLst>
              <a:gd fmla="val 6000" name="adj"/>
            </a:avLst>
          </a:prstGeom>
          <a:solidFill>
            <a:srgbClr val="334091"/>
          </a:solidFill>
          <a:ln cap="flat" cmpd="sng" w="9525">
            <a:solidFill>
              <a:srgbClr val="3340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9376948" y="2167126"/>
            <a:ext cx="18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9376948" y="2532883"/>
            <a:ext cx="187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halts on critical failure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548640" y="3429000"/>
            <a:ext cx="5212200" cy="1965900"/>
          </a:xfrm>
          <a:prstGeom prst="roundRect">
            <a:avLst>
              <a:gd fmla="val 5000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822960" y="3630168"/>
            <a:ext cx="466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A2E2E"/>
                </a:solidFill>
                <a:latin typeface="Calibri"/>
                <a:ea typeface="Calibri"/>
                <a:cs typeface="Calibri"/>
                <a:sym typeface="Calibri"/>
              </a:rPr>
              <a:t>CRITICAL — Blocks the Pipeline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822960" y="4087368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 negative price, a broken foreign key, a review score outside 1–5.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822960" y="4709160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8A2E2E"/>
                </a:solidFill>
                <a:latin typeface="Calibri"/>
                <a:ea typeface="Calibri"/>
                <a:cs typeface="Calibri"/>
                <a:sym typeface="Calibri"/>
              </a:rPr>
              <a:t>Pipeline halts immediately — nothing downstream runs on bad data.</a:t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6126480" y="3429000"/>
            <a:ext cx="5212200" cy="1965900"/>
          </a:xfrm>
          <a:prstGeom prst="roundRect">
            <a:avLst>
              <a:gd fmla="val 5000" name="adj"/>
            </a:avLst>
          </a:prstGeom>
          <a:solidFill>
            <a:srgbClr val="F4F6FB"/>
          </a:solidFill>
          <a:ln cap="flat" cmpd="sng" w="9525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6400800" y="3630168"/>
            <a:ext cx="466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OBSERVATION — Logged, Not Blocking</a:t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6400800" y="4087368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623 products missing a category — a known source limitation.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6400800" y="4709160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Recorded in the data quality report — doesn't fail the build.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548640" y="5715000"/>
            <a:ext cx="1106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Same discipline as everything else: distinguishing what actually threatens data integrity from what's just a known quirk of the source.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11521440" y="6446520"/>
            <a:ext cx="45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0700" y="1243200"/>
            <a:ext cx="3632550" cy="51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300625" y="314800"/>
            <a:ext cx="1091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DATA PIPELINE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152400" y="514900"/>
            <a:ext cx="1106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GitHub Actions — Orchestration &amp; Quality Gates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300625" y="5370350"/>
            <a:ext cx="7651200" cy="879300"/>
          </a:xfrm>
          <a:prstGeom prst="roundRect">
            <a:avLst>
              <a:gd fmla="val 7059" name="adj"/>
            </a:avLst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manual work · Repeatable process · Greater confidence in data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600"/>
          </a:p>
        </p:txBody>
      </p:sp>
      <p:sp>
        <p:nvSpPr>
          <p:cNvPr id="365" name="Google Shape;365;p25"/>
          <p:cNvSpPr/>
          <p:nvPr/>
        </p:nvSpPr>
        <p:spPr>
          <a:xfrm rot="5400000">
            <a:off x="3482798" y="2060450"/>
            <a:ext cx="202500" cy="27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1478750" y="1250400"/>
            <a:ext cx="4380600" cy="879300"/>
          </a:xfrm>
          <a:prstGeom prst="roundRect">
            <a:avLst>
              <a:gd fmla="val 4000" name="adj"/>
            </a:avLst>
          </a:prstGeom>
          <a:solidFill>
            <a:srgbClr val="CADCFC"/>
          </a:solidFill>
          <a:ln cap="flat" cmpd="sng" w="15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INGEST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 Olist data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Meltano → BigQuery Raw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742"/>
          </a:p>
        </p:txBody>
      </p:sp>
      <p:sp>
        <p:nvSpPr>
          <p:cNvPr id="367" name="Google Shape;367;p25"/>
          <p:cNvSpPr/>
          <p:nvPr/>
        </p:nvSpPr>
        <p:spPr>
          <a:xfrm>
            <a:off x="1478750" y="2304350"/>
            <a:ext cx="4380600" cy="879300"/>
          </a:xfrm>
          <a:prstGeom prst="roundRect">
            <a:avLst>
              <a:gd fmla="val 4000" name="adj"/>
            </a:avLst>
          </a:prstGeom>
          <a:solidFill>
            <a:srgbClr val="CADCFC"/>
          </a:solidFill>
          <a:ln cap="flat" cmpd="sng" w="15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TRANSFORM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DBT → Staging → Intermediate → Marts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1478750" y="3399750"/>
            <a:ext cx="4380600" cy="879300"/>
          </a:xfrm>
          <a:prstGeom prst="roundRect">
            <a:avLst>
              <a:gd fmla="val 4000" name="adj"/>
            </a:avLst>
          </a:prstGeom>
          <a:solidFill>
            <a:srgbClr val="CADCFC"/>
          </a:solidFill>
          <a:ln cap="flat" cmpd="sng" w="15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VALIDATE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 Expectations + DBT tests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 rot="5400000">
            <a:off x="3482798" y="3153400"/>
            <a:ext cx="202500" cy="276600"/>
          </a:xfrm>
          <a:prstGeom prst="rightArrow">
            <a:avLst>
              <a:gd fmla="val 30298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"/>
          <p:cNvSpPr/>
          <p:nvPr/>
        </p:nvSpPr>
        <p:spPr>
          <a:xfrm rot="5400000">
            <a:off x="3482798" y="4243350"/>
            <a:ext cx="202500" cy="276600"/>
          </a:xfrm>
          <a:prstGeom prst="rightArrow">
            <a:avLst>
              <a:gd fmla="val 30298" name="adj1"/>
              <a:gd fmla="val 50000" name="adj2"/>
            </a:avLst>
          </a:prstGeom>
          <a:solidFill>
            <a:srgbClr val="5B6472"/>
          </a:solidFill>
          <a:ln cap="flat" cmpd="sng" w="15800">
            <a:solidFill>
              <a:srgbClr val="5B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2"/>
              <a:buFont typeface="Arial"/>
              <a:buNone/>
            </a:pPr>
            <a:r>
              <a:t/>
            </a:r>
            <a:endParaRPr b="0" i="0" sz="17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1478650" y="4516900"/>
            <a:ext cx="4380600" cy="615600"/>
          </a:xfrm>
          <a:prstGeom prst="roundRect">
            <a:avLst>
              <a:gd fmla="val 4000" name="adj"/>
            </a:avLst>
          </a:prstGeom>
          <a:solidFill>
            <a:srgbClr val="4A86E8"/>
          </a:solidFill>
          <a:ln cap="flat" cmpd="sng" w="15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75" lIns="113775" spcFirstLastPara="1" rIns="113775" wrap="square" tIns="113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TRUSTED DATA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721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9425"/>
            <a:ext cx="11856702" cy="85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84359"/>
            <a:ext cx="11856700" cy="90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740491"/>
            <a:ext cx="11856700" cy="897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4790258"/>
            <a:ext cx="11856700" cy="90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614527"/>
            <a:ext cx="11856700" cy="90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5600" y="1172058"/>
            <a:ext cx="9927451" cy="29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400" y="6011489"/>
            <a:ext cx="11750746" cy="694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Thank you — Olist E-Commerce Data Pipeline Team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2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9966960" y="2697480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